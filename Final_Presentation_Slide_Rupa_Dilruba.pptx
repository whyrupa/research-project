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85" r:id="rId10"/>
    <p:sldId id="263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6" r:id="rId20"/>
    <p:sldId id="273" r:id="rId21"/>
    <p:sldId id="274" r:id="rId22"/>
    <p:sldId id="275" r:id="rId23"/>
    <p:sldId id="287" r:id="rId24"/>
    <p:sldId id="288" r:id="rId25"/>
    <p:sldId id="277" r:id="rId26"/>
    <p:sldId id="276" r:id="rId27"/>
    <p:sldId id="278" r:id="rId28"/>
    <p:sldId id="284" r:id="rId29"/>
    <p:sldId id="280" r:id="rId30"/>
    <p:sldId id="281" r:id="rId31"/>
    <p:sldId id="282" r:id="rId32"/>
    <p:sldId id="28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7DDB3-C505-4581-8BCC-E3273BBD975A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0DF14-4B3E-4E91-A747-8A77457A0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566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9B91D-E723-4E22-86B1-6AA3A6CA1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49ED87-499D-4A08-9C2B-A49A75F38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D6B57-C3C5-45E4-9E28-FD8F47CA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327D4-3396-42FC-8EF3-E2EFBCC409C1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4D092-7E61-460A-ADC0-305EFA476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CB608-371F-464F-BF43-C87D6AC1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FCE4-3A2D-4CF6-97BD-6338C693B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00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3241-0F83-43FF-A822-40D17694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173A0-5F9A-4D86-B015-52EED0B24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8926A-62AF-42B5-9ABE-57550EA5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327D4-3396-42FC-8EF3-E2EFBCC409C1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EE5CE-02E1-400B-8CC9-4D2A28699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54E8A-D4C8-4E75-A2F5-DE91DAA0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FCE4-3A2D-4CF6-97BD-6338C693B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67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64B55-C555-4899-8315-F52F8F9BA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B2ECF-17D0-4076-853E-4D8AF6EEE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09399-18C7-4DAF-BFC4-6C03788AF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327D4-3396-42FC-8EF3-E2EFBCC409C1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16FB6-24D9-4A83-8D13-B9D5879E4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2E7F2-693F-4876-B295-ED994352B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FCE4-3A2D-4CF6-97BD-6338C693B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64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1EB9-83F4-437D-8195-CDBBDF2B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B21E6-8DA1-4D07-BADD-CD5987770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1CC9A-EC15-4826-8CF4-23F48D6E9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A0435-F07B-4969-97E8-CD79B36C9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327D4-3396-42FC-8EF3-E2EFBCC409C1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AA1E5-C3DD-4620-8553-34BC140DA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896550-EF70-4617-8C96-48C68DA4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FCE4-3A2D-4CF6-97BD-6338C693B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31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96CB-0BCB-4D8F-974A-57458A8A2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0919A-D03F-4347-9F1C-B2F9C13E6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79961-FE90-4DD9-87FD-137857553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E5EB62-B4C2-4A69-B144-01B66DFE9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28512E-A23B-4626-AE07-08FE203F4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00246B-089E-4B6E-9776-3342DF42A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327D4-3396-42FC-8EF3-E2EFBCC409C1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56EFDB-F5C9-4114-BB6D-D8817873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F0F9BF-8FD3-4B80-B5A5-E5BDCC70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FCE4-3A2D-4CF6-97BD-6338C693B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13C8A-9BF2-48E2-B914-309F2E22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EFF68F-19EA-4516-9E55-6E8F7D701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327D4-3396-42FC-8EF3-E2EFBCC409C1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C384DE-62E6-4CD4-98CE-D5071260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8F1C0-8BDB-4611-B2E1-BDC52A13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FCE4-3A2D-4CF6-97BD-6338C693B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57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E68E1E-A43E-4337-84C1-8AD7C69BC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327D4-3396-42FC-8EF3-E2EFBCC409C1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E51378-4F04-4B63-8C14-7D79064D2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7C240-1DEB-457D-8A17-5D81380F1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FCE4-3A2D-4CF6-97BD-6338C693B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29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1DA8D-6444-4C8B-B7C2-55F98ECF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32C1F-8DAD-4E2F-B0E9-19E2A1A35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24367-F774-4D01-BE62-D09427F94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3B5B2-C2E2-4840-A06C-A00B2F9AD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327D4-3396-42FC-8EF3-E2EFBCC409C1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2E4D0-5150-4DF1-AAAA-42A7DAAC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D1A33-1538-42E2-9C8C-76723B50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FCE4-3A2D-4CF6-97BD-6338C693B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31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3218A-4D66-47BB-879C-74E2F06E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182B81-FF6E-4575-AB73-5FF37E7D0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50387-EEFF-4A24-A68B-D1D466F53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4F872-D4DE-4538-8727-2481761C4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327D4-3396-42FC-8EF3-E2EFBCC409C1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2EB2-7E6E-47C4-8D6D-2944F4B47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25190-8409-4991-B85A-07888F91C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FCE4-3A2D-4CF6-97BD-6338C693B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90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CC6D1-F6EB-4EA3-A6EE-29B1B9830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48DA6-81F7-459B-B52B-D4E00AD3C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FE2EA-8DD6-4B13-BEC3-B5425E818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327D4-3396-42FC-8EF3-E2EFBCC409C1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1B6BF-6B51-4CAA-8216-2C8AE7E22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6BB38-9C11-443E-93AD-239542C72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FCE4-3A2D-4CF6-97BD-6338C693B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5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21C1E1-1DC2-416F-A8A2-44ADC3D33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86CA78-FE5B-4E45-BC59-D0DD58D31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A5C1B-18CB-4BEF-9EE6-2F72BD3E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327D4-3396-42FC-8EF3-E2EFBCC409C1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4D01-BF74-4647-BDAD-3407F034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ACC72-2BC1-48F7-85A9-08F584D1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FCE4-3A2D-4CF6-97BD-6338C693B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69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2EF60A-153E-4B77-B672-7C26D97C2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04FBA-F590-478B-95DF-63503792A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2CB7C-AD15-4EE8-A8F2-B4DB4D7A6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327D4-3396-42FC-8EF3-E2EFBCC409C1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F8024-4D41-4FCD-963F-76CBDF277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9803-931E-4208-AF09-005634DC0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9FCE4-3A2D-4CF6-97BD-6338C693B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84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5-11916-6" TargetMode="External"/><Relationship Id="rId2" Type="http://schemas.openxmlformats.org/officeDocument/2006/relationships/hyperlink" Target="https://doi.org/10.1109/ACCESS.2020.3016539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080/09540091.2021.1892630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e23060790" TargetMode="External"/><Relationship Id="rId2" Type="http://schemas.openxmlformats.org/officeDocument/2006/relationships/hyperlink" Target="https://doi.org/10.1109/ACCESS.2020.3016539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049/iet-ipr.2019.1414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5-11916-6" TargetMode="External"/><Relationship Id="rId2" Type="http://schemas.openxmlformats.org/officeDocument/2006/relationships/hyperlink" Target="https://doi.org/10.3390/electronics10212673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038/s41598-023-50364-7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09540091.2021.1892630" TargetMode="External"/><Relationship Id="rId2" Type="http://schemas.openxmlformats.org/officeDocument/2006/relationships/hyperlink" Target="https://doi.org/10.1038/s41598-023-50364-7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016/j.jfranklin.2020.06.019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levkin.com/hlevkin/06testimages.htm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ipi.usc.edu/database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prasunroy/natural-image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e23060790" TargetMode="External"/><Relationship Id="rId2" Type="http://schemas.openxmlformats.org/officeDocument/2006/relationships/hyperlink" Target="https://doi.org/10.1109/ACCESS.2020.3016539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3390/electronics10212673" TargetMode="External"/><Relationship Id="rId5" Type="http://schemas.openxmlformats.org/officeDocument/2006/relationships/hyperlink" Target="https://doi.org/10.1007/s10489-021-02840-7" TargetMode="External"/><Relationship Id="rId4" Type="http://schemas.openxmlformats.org/officeDocument/2006/relationships/hyperlink" Target="https://doi.org/10.1049/iet-ipr.2019.1414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3-50364-7" TargetMode="External"/><Relationship Id="rId2" Type="http://schemas.openxmlformats.org/officeDocument/2006/relationships/hyperlink" Target="https://doi.org/10.1038/s41598-025-11916-6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016/j.jfranklin.2020.06.019" TargetMode="External"/><Relationship Id="rId4" Type="http://schemas.openxmlformats.org/officeDocument/2006/relationships/hyperlink" Target="https://doi.org/10.1080/09540091.2021.1892630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jvcir.2024.104156" TargetMode="External"/><Relationship Id="rId2" Type="http://schemas.openxmlformats.org/officeDocument/2006/relationships/hyperlink" Target="ttps://doi.org/10.1016/j.jvcir.2024.104156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ipi.usc.edu/database/" TargetMode="External"/><Relationship Id="rId5" Type="http://schemas.openxmlformats.org/officeDocument/2006/relationships/hyperlink" Target="https://www.hlevkin.com/hlevkin/06testimages.htm" TargetMode="External"/><Relationship Id="rId4" Type="http://schemas.openxmlformats.org/officeDocument/2006/relationships/hyperlink" Target="https://www.kaggle.com/datasets/prasunroy/natural-images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4F6BD2-ED7B-4C47-B9DC-A2DB89B6A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614" y="-9024"/>
            <a:ext cx="1699726" cy="17078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2834F3-C68E-4CE4-B23F-ED33A32F06BE}"/>
              </a:ext>
            </a:extLst>
          </p:cNvPr>
          <p:cNvSpPr txBox="1"/>
          <p:nvPr/>
        </p:nvSpPr>
        <p:spPr>
          <a:xfrm>
            <a:off x="437321" y="1924216"/>
            <a:ext cx="1128290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Research Project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Course Code: CSE 5000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C27FC9-F28C-4BF3-A52C-1B2FC667FE7E}"/>
              </a:ext>
            </a:extLst>
          </p:cNvPr>
          <p:cNvSpPr txBox="1"/>
          <p:nvPr/>
        </p:nvSpPr>
        <p:spPr>
          <a:xfrm>
            <a:off x="437321" y="4007458"/>
            <a:ext cx="3760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                                                                               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Dr.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Mahbuba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Begum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MBSTU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39F5DF-4EAF-4397-852B-D9C8F31CBB25}"/>
              </a:ext>
            </a:extLst>
          </p:cNvPr>
          <p:cNvSpPr txBox="1"/>
          <p:nvPr/>
        </p:nvSpPr>
        <p:spPr>
          <a:xfrm>
            <a:off x="7114562" y="4045342"/>
            <a:ext cx="40967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Rupa Rani Das    (ID: CE20025)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Session: 2019-20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Dilruba Yeasmin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(ID: CE21046)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Session: 2020-21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MBSTU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DD51A8-EA1C-40E1-8282-B1A59631C757}"/>
              </a:ext>
            </a:extLst>
          </p:cNvPr>
          <p:cNvSpPr txBox="1"/>
          <p:nvPr/>
        </p:nvSpPr>
        <p:spPr>
          <a:xfrm>
            <a:off x="437321" y="6178163"/>
            <a:ext cx="11282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1</a:t>
            </a:r>
          </a:p>
        </p:txBody>
      </p:sp>
    </p:spTree>
    <p:extLst>
      <p:ext uri="{BB962C8B-B14F-4D97-AF65-F5344CB8AC3E}">
        <p14:creationId xmlns:p14="http://schemas.microsoft.com/office/powerpoint/2010/main" val="412154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1312DE-9BCA-4ACD-A058-C2F8EB3F7C6A}"/>
              </a:ext>
            </a:extLst>
          </p:cNvPr>
          <p:cNvSpPr txBox="1"/>
          <p:nvPr/>
        </p:nvSpPr>
        <p:spPr>
          <a:xfrm>
            <a:off x="414793" y="2905780"/>
            <a:ext cx="113624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Secure Reversible Image Data Hiding with Encryption</a:t>
            </a:r>
            <a:endParaRPr lang="en-US" sz="3200" b="1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0E936A-A232-4343-B3D3-E4DEB237AC6E}"/>
              </a:ext>
            </a:extLst>
          </p:cNvPr>
          <p:cNvSpPr txBox="1"/>
          <p:nvPr/>
        </p:nvSpPr>
        <p:spPr>
          <a:xfrm>
            <a:off x="333955" y="6042993"/>
            <a:ext cx="11362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3749408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4E2D1B-5992-4330-A9D4-BCDD4E48E9A3}"/>
              </a:ext>
            </a:extLst>
          </p:cNvPr>
          <p:cNvSpPr txBox="1"/>
          <p:nvPr/>
        </p:nvSpPr>
        <p:spPr>
          <a:xfrm>
            <a:off x="373710" y="226866"/>
            <a:ext cx="114498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3849A5-9F49-47F2-B49D-B016C6F28BC4}"/>
              </a:ext>
            </a:extLst>
          </p:cNvPr>
          <p:cNvSpPr txBox="1"/>
          <p:nvPr/>
        </p:nvSpPr>
        <p:spPr>
          <a:xfrm>
            <a:off x="373710" y="1393349"/>
            <a:ext cx="114498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Research Gaps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Motivation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Work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D32D63-0DE7-4432-8718-59D28A45B161}"/>
              </a:ext>
            </a:extLst>
          </p:cNvPr>
          <p:cNvSpPr txBox="1"/>
          <p:nvPr/>
        </p:nvSpPr>
        <p:spPr>
          <a:xfrm>
            <a:off x="373711" y="6155681"/>
            <a:ext cx="11449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86900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D646B4-EAFC-4C6C-864A-0C108B5C6484}"/>
              </a:ext>
            </a:extLst>
          </p:cNvPr>
          <p:cNvSpPr txBox="1"/>
          <p:nvPr/>
        </p:nvSpPr>
        <p:spPr>
          <a:xfrm>
            <a:off x="389612" y="243434"/>
            <a:ext cx="113942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BAE6F8-B0DA-4D5C-93DB-94AE2A7D00B9}"/>
              </a:ext>
            </a:extLst>
          </p:cNvPr>
          <p:cNvSpPr txBox="1"/>
          <p:nvPr/>
        </p:nvSpPr>
        <p:spPr>
          <a:xfrm>
            <a:off x="406842" y="1127869"/>
            <a:ext cx="11394218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security remains a major challenge in modern communication systems [6].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improve RDH-EI capacity and performance using compression and encryption techniques [8].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Reversible image data hiding with encryption is a secure data hiding technique.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enables secure embedding with perfect recovery of the original image [1].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Secret data is hidden inside encrypted images.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ensures data security and privacy.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method aims to achieve high security, efficient data hiding, and good image quality.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0C9C3-90D7-4F58-8971-1F873D3721D0}"/>
              </a:ext>
            </a:extLst>
          </p:cNvPr>
          <p:cNvSpPr txBox="1"/>
          <p:nvPr/>
        </p:nvSpPr>
        <p:spPr>
          <a:xfrm>
            <a:off x="389612" y="5149080"/>
            <a:ext cx="113942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Malik, P. He, H. Wang, A. N. Khan, S.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Pirasteh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S. M. Abdullahi, "High-capacity reversible data hiding in encrypted images using multi-layer embedding," IEEE Access, vol. 8, pp. 148998–149010, 2020.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[6]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V. Venkatesh, R.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Anushiadevi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V.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Meikandan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Mahalingam, and R.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Amirtharajan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"Separable reversible data hiding by vacating room after encryption using encrypted pixel difference," Scientific Reports, vol. 15, p. 11916, 2025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[8]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K.-M. Chen and C.-C. Chang, "High-capacity separable reversible data-hiding method in encrypted images based on block-level encryption and Huffman compression coding," Connection Science, vol. 33, no. 4, pp. 975–994, 2021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67EA7-CAEE-4BE5-B039-F385885B5F2B}"/>
              </a:ext>
            </a:extLst>
          </p:cNvPr>
          <p:cNvSpPr txBox="1"/>
          <p:nvPr/>
        </p:nvSpPr>
        <p:spPr>
          <a:xfrm>
            <a:off x="389613" y="6202017"/>
            <a:ext cx="11394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4</a:t>
            </a:r>
          </a:p>
        </p:txBody>
      </p:sp>
    </p:spTree>
    <p:extLst>
      <p:ext uri="{BB962C8B-B14F-4D97-AF65-F5344CB8AC3E}">
        <p14:creationId xmlns:p14="http://schemas.microsoft.com/office/powerpoint/2010/main" val="2733972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F9AA19-48B6-4360-9F46-F52D478D1423}"/>
              </a:ext>
            </a:extLst>
          </p:cNvPr>
          <p:cNvSpPr txBox="1"/>
          <p:nvPr/>
        </p:nvSpPr>
        <p:spPr>
          <a:xfrm>
            <a:off x="381663" y="262393"/>
            <a:ext cx="11497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(cont.)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CA9B3-6D32-4B43-B203-9D63370D000E}"/>
              </a:ext>
            </a:extLst>
          </p:cNvPr>
          <p:cNvSpPr txBox="1"/>
          <p:nvPr/>
        </p:nvSpPr>
        <p:spPr>
          <a:xfrm>
            <a:off x="381664" y="5275639"/>
            <a:ext cx="11497584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General architecture of the proposed method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BA705C-7554-4EA9-A359-96AFFCF35FBA}"/>
              </a:ext>
            </a:extLst>
          </p:cNvPr>
          <p:cNvSpPr txBox="1"/>
          <p:nvPr/>
        </p:nvSpPr>
        <p:spPr>
          <a:xfrm>
            <a:off x="381663" y="6273579"/>
            <a:ext cx="11497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94B41D-408E-4078-902B-EC069904D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260" y="1043152"/>
            <a:ext cx="7698529" cy="395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770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019424-388A-4EAF-80B6-493B6C543063}"/>
              </a:ext>
            </a:extLst>
          </p:cNvPr>
          <p:cNvSpPr txBox="1"/>
          <p:nvPr/>
        </p:nvSpPr>
        <p:spPr>
          <a:xfrm>
            <a:off x="499604" y="185376"/>
            <a:ext cx="11316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B9CF32-81AE-4B69-B59A-7BFA1E5E3324}"/>
              </a:ext>
            </a:extLst>
          </p:cNvPr>
          <p:cNvSpPr txBox="1"/>
          <p:nvPr/>
        </p:nvSpPr>
        <p:spPr>
          <a:xfrm>
            <a:off x="499604" y="1304014"/>
            <a:ext cx="113160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secure reversible data hiding system for secret image data transmission.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adaptive techniques to improve embedding capacity for large payloads.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secure encryption methods to protect both host and secret images.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accurate extraction of hidden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valuates system performance in terms of quality, security, and efficiency.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ecover the original images without any loss after data extraction.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CC663F-6298-45B4-B217-CC7261F4CBFC}"/>
              </a:ext>
            </a:extLst>
          </p:cNvPr>
          <p:cNvSpPr txBox="1"/>
          <p:nvPr/>
        </p:nvSpPr>
        <p:spPr>
          <a:xfrm>
            <a:off x="499605" y="6249725"/>
            <a:ext cx="11316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6</a:t>
            </a:r>
          </a:p>
        </p:txBody>
      </p:sp>
    </p:spTree>
    <p:extLst>
      <p:ext uri="{BB962C8B-B14F-4D97-AF65-F5344CB8AC3E}">
        <p14:creationId xmlns:p14="http://schemas.microsoft.com/office/powerpoint/2010/main" val="2087929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8E7940-A7CD-4247-A685-54331B26F195}"/>
              </a:ext>
            </a:extLst>
          </p:cNvPr>
          <p:cNvSpPr txBox="1"/>
          <p:nvPr/>
        </p:nvSpPr>
        <p:spPr>
          <a:xfrm>
            <a:off x="320702" y="59695"/>
            <a:ext cx="11545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29BAB5-92D3-4C09-9ADA-6A9AB2635D03}"/>
              </a:ext>
            </a:extLst>
          </p:cNvPr>
          <p:cNvSpPr txBox="1"/>
          <p:nvPr/>
        </p:nvSpPr>
        <p:spPr>
          <a:xfrm>
            <a:off x="326003" y="6329238"/>
            <a:ext cx="11545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7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37C8229-8948-414F-B958-8AF3CA2592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8058180"/>
              </p:ext>
            </p:extLst>
          </p:nvPr>
        </p:nvGraphicFramePr>
        <p:xfrm>
          <a:off x="320701" y="1086638"/>
          <a:ext cx="11545294" cy="4514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495">
                  <a:extLst>
                    <a:ext uri="{9D8B030D-6E8A-4147-A177-3AD203B41FA5}">
                      <a16:colId xmlns:a16="http://schemas.microsoft.com/office/drawing/2014/main" val="714662858"/>
                    </a:ext>
                  </a:extLst>
                </a:gridCol>
                <a:gridCol w="2672198">
                  <a:extLst>
                    <a:ext uri="{9D8B030D-6E8A-4147-A177-3AD203B41FA5}">
                      <a16:colId xmlns:a16="http://schemas.microsoft.com/office/drawing/2014/main" val="4002629043"/>
                    </a:ext>
                  </a:extLst>
                </a:gridCol>
                <a:gridCol w="2680796">
                  <a:extLst>
                    <a:ext uri="{9D8B030D-6E8A-4147-A177-3AD203B41FA5}">
                      <a16:colId xmlns:a16="http://schemas.microsoft.com/office/drawing/2014/main" val="618894477"/>
                    </a:ext>
                  </a:extLst>
                </a:gridCol>
                <a:gridCol w="3377805">
                  <a:extLst>
                    <a:ext uri="{9D8B030D-6E8A-4147-A177-3AD203B41FA5}">
                      <a16:colId xmlns:a16="http://schemas.microsoft.com/office/drawing/2014/main" val="2641447483"/>
                    </a:ext>
                  </a:extLst>
                </a:gridCol>
              </a:tblGrid>
              <a:tr h="33459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References,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56839"/>
                  </a:ext>
                </a:extLst>
              </a:tr>
              <a:tr h="13054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Malik et al., 2020 [1]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Multi-Layer Embedding,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Four-set Frame Splitting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BPP=2</a:t>
                      </a:r>
                      <a:b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PSNR=∞</a:t>
                      </a:r>
                      <a:b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BER=0   </a:t>
                      </a:r>
                    </a:p>
                    <a:p>
                      <a:pPr marL="0" marR="0" indent="0">
                        <a:lnSpc>
                          <a:spcPct val="100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SSIM=1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/>
                        <a:t>Texture-sensitivity,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/>
                        <a:t>High-overhead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9317713"/>
                  </a:ext>
                </a:extLst>
              </a:tr>
              <a:tr h="14359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Li et al., 2021 [2]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(7, 4) Hamming Code, 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/>
                        <a:t>Histogram-Based Undistorted RDHEI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BPP: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2.556 </a:t>
                      </a:r>
                      <a:b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BER=0  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/>
                        <a:t>Noise-vulnerability,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Low embedding capacity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1558331"/>
                  </a:ext>
                </a:extLst>
              </a:tr>
              <a:tr h="13662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Jose and Subramaniam, 2020 [3]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RRBE, VRAE,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Hybrid AES-ECC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PSNR=∞</a:t>
                      </a:r>
                    </a:p>
                    <a:p>
                      <a:pPr marL="342900" marR="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BER=0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Low embedding capacity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1996529"/>
                  </a:ext>
                </a:extLst>
              </a:tr>
            </a:tbl>
          </a:graphicData>
        </a:graphic>
      </p:graphicFrame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C128F10-CAA5-4F24-A6C5-F3CEDB30F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701" y="5911946"/>
            <a:ext cx="11545294" cy="834584"/>
          </a:xfrm>
        </p:spPr>
        <p:txBody>
          <a:bodyPr/>
          <a:lstStyle/>
          <a:p>
            <a:pPr algn="l"/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Malik, P. He, H. Wang, A. N. Khan, S. </a:t>
            </a:r>
            <a:r>
              <a:rPr lang="en-US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Pirasteh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S. M. Abdullahi, "High-capacity reversible data hiding in encrypted images using multi-layer embedding," IEEE Access, vol. 8, pp. 148998–149010, 2020.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1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L. Li, C.-C. Chang, and C.-C. Lin, “Reversible data hiding in encrypted image based on (7,4) Hamming code and Unit Smooth detection," Entropy, vol. 23, no. 6, p. 790, 2021.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1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Jose and K. Subramaniam, "Comparative analysis of reversible data hiding schemes," IET Image Processing, vol. 14, no. 10, pp. 2011–2023, 2020. 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745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1C827A-D841-4076-ABD3-DD35628C6729}"/>
              </a:ext>
            </a:extLst>
          </p:cNvPr>
          <p:cNvSpPr txBox="1"/>
          <p:nvPr/>
        </p:nvSpPr>
        <p:spPr>
          <a:xfrm>
            <a:off x="318052" y="127221"/>
            <a:ext cx="11529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(Cont.)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34F16A-66D4-40E4-A91A-8062122D3D1E}"/>
              </a:ext>
            </a:extLst>
          </p:cNvPr>
          <p:cNvSpPr txBox="1"/>
          <p:nvPr/>
        </p:nvSpPr>
        <p:spPr>
          <a:xfrm>
            <a:off x="318052" y="6249725"/>
            <a:ext cx="11529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8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BAEA9BC-F5BF-4777-9D43-FC844638C3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0879461"/>
              </p:ext>
            </p:extLst>
          </p:nvPr>
        </p:nvGraphicFramePr>
        <p:xfrm>
          <a:off x="315400" y="911931"/>
          <a:ext cx="11529391" cy="4452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6831">
                  <a:extLst>
                    <a:ext uri="{9D8B030D-6E8A-4147-A177-3AD203B41FA5}">
                      <a16:colId xmlns:a16="http://schemas.microsoft.com/office/drawing/2014/main" val="714662858"/>
                    </a:ext>
                  </a:extLst>
                </a:gridCol>
                <a:gridCol w="2664921">
                  <a:extLst>
                    <a:ext uri="{9D8B030D-6E8A-4147-A177-3AD203B41FA5}">
                      <a16:colId xmlns:a16="http://schemas.microsoft.com/office/drawing/2014/main" val="4002629043"/>
                    </a:ext>
                  </a:extLst>
                </a:gridCol>
                <a:gridCol w="2673496">
                  <a:extLst>
                    <a:ext uri="{9D8B030D-6E8A-4147-A177-3AD203B41FA5}">
                      <a16:colId xmlns:a16="http://schemas.microsoft.com/office/drawing/2014/main" val="618894477"/>
                    </a:ext>
                  </a:extLst>
                </a:gridCol>
                <a:gridCol w="3384143">
                  <a:extLst>
                    <a:ext uri="{9D8B030D-6E8A-4147-A177-3AD203B41FA5}">
                      <a16:colId xmlns:a16="http://schemas.microsoft.com/office/drawing/2014/main" val="2641447483"/>
                    </a:ext>
                  </a:extLst>
                </a:gridCol>
              </a:tblGrid>
              <a:tr h="319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References,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56839"/>
                  </a:ext>
                </a:extLst>
              </a:tr>
              <a:tr h="12545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Rehman et al., 2021 [5]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AES Encryption, ECC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BPP=1.5</a:t>
                      </a:r>
                      <a:b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PSNR=∞</a:t>
                      </a:r>
                      <a:b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SSIM=1.0</a:t>
                      </a:r>
                      <a:b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BER=0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/>
                        <a:t>Algorithmic vulnerability,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/>
                        <a:t>Texture-dependency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9317713"/>
                  </a:ext>
                </a:extLst>
              </a:tr>
              <a:tr h="12034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Venkatesh et al., 2025 [6]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VRAE, </a:t>
                      </a:r>
                      <a:r>
                        <a:rPr lang="en-US" sz="2000" dirty="0"/>
                        <a:t>Additive Homomorphic Encryption, Encrypted Pixel Difference (EPD)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BPP=1.2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PSNR=∞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SSIM=1.0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BER=0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High computational complexity,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/>
                        <a:t>Noise-sensitivity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1558331"/>
                  </a:ext>
                </a:extLst>
              </a:tr>
              <a:tr h="11065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Ren et al., 2023 [7]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Multi-Prediction, Adaptive Huffman Encoding,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BPP =</a:t>
                      </a:r>
                      <a:r>
                        <a:rPr lang="en-US" dirty="0"/>
                        <a:t> 2.7718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PSNR= ∞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SSIM: 1.0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Texture-sensitivity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991996529"/>
                  </a:ext>
                </a:extLst>
              </a:tr>
            </a:tbl>
          </a:graphicData>
        </a:graphic>
      </p:graphicFrame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89A55B-0D03-4985-82DF-50C940485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051" y="5503121"/>
            <a:ext cx="11606253" cy="1069954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r>
              <a:rPr lang="en-US" sz="1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Rehman, N. T. </a:t>
            </a:r>
            <a:r>
              <a:rPr lang="en-US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Bajwa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A. Shah, A. O. </a:t>
            </a:r>
            <a:r>
              <a:rPr lang="en-US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Aseeri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A. Anjum, "Hybrid AES-ECC model for the security of data over cloud storage," Electronics, vol. 10, no. 21, p. 2673, 2021[6]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r>
              <a:rPr lang="en-US" sz="1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Venkatesh, R. </a:t>
            </a:r>
            <a:r>
              <a:rPr lang="en-US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Anushiadevi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P. V. </a:t>
            </a:r>
            <a:r>
              <a:rPr lang="en-US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Meikandan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H. Mahalingam, and R. </a:t>
            </a:r>
            <a:r>
              <a:rPr lang="en-US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Amirtharajan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"Separable reversible data hiding by vacating room after encryption using encrypted pixel difference," Scientific Reports, vol. 15, p. 11916, 2025.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  <a:r>
              <a:rPr lang="en-US" sz="1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H. Ren, G.-R. Bai, T.-T. Chen, Z. Yue, and R.-Y. Ren, "Reversible data hiding in encrypted images with multi-prediction and adaptive Huffman encoding," Scientific Reports, vol. 13, p. 23104, 2023.</a:t>
            </a:r>
          </a:p>
        </p:txBody>
      </p:sp>
    </p:spTree>
    <p:extLst>
      <p:ext uri="{BB962C8B-B14F-4D97-AF65-F5344CB8AC3E}">
        <p14:creationId xmlns:p14="http://schemas.microsoft.com/office/powerpoint/2010/main" val="3221772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7F95A9-CB95-46EE-B1DA-F294A6247BBE}"/>
              </a:ext>
            </a:extLst>
          </p:cNvPr>
          <p:cNvSpPr txBox="1"/>
          <p:nvPr/>
        </p:nvSpPr>
        <p:spPr>
          <a:xfrm>
            <a:off x="292100" y="47708"/>
            <a:ext cx="1160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(Cont.)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CF2D5E-F81F-417F-9E8C-68993C9592CB}"/>
              </a:ext>
            </a:extLst>
          </p:cNvPr>
          <p:cNvSpPr txBox="1"/>
          <p:nvPr/>
        </p:nvSpPr>
        <p:spPr>
          <a:xfrm>
            <a:off x="318052" y="6249725"/>
            <a:ext cx="11529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9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203F58-94FC-4286-A759-4A3552360F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924520"/>
              </p:ext>
            </p:extLst>
          </p:nvPr>
        </p:nvGraphicFramePr>
        <p:xfrm>
          <a:off x="318052" y="835107"/>
          <a:ext cx="11529391" cy="4210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7937">
                  <a:extLst>
                    <a:ext uri="{9D8B030D-6E8A-4147-A177-3AD203B41FA5}">
                      <a16:colId xmlns:a16="http://schemas.microsoft.com/office/drawing/2014/main" val="714662858"/>
                    </a:ext>
                  </a:extLst>
                </a:gridCol>
                <a:gridCol w="2973336">
                  <a:extLst>
                    <a:ext uri="{9D8B030D-6E8A-4147-A177-3AD203B41FA5}">
                      <a16:colId xmlns:a16="http://schemas.microsoft.com/office/drawing/2014/main" val="4002629043"/>
                    </a:ext>
                  </a:extLst>
                </a:gridCol>
                <a:gridCol w="2994825">
                  <a:extLst>
                    <a:ext uri="{9D8B030D-6E8A-4147-A177-3AD203B41FA5}">
                      <a16:colId xmlns:a16="http://schemas.microsoft.com/office/drawing/2014/main" val="618894477"/>
                    </a:ext>
                  </a:extLst>
                </a:gridCol>
                <a:gridCol w="2423293">
                  <a:extLst>
                    <a:ext uri="{9D8B030D-6E8A-4147-A177-3AD203B41FA5}">
                      <a16:colId xmlns:a16="http://schemas.microsoft.com/office/drawing/2014/main" val="2641447483"/>
                    </a:ext>
                  </a:extLst>
                </a:gridCol>
              </a:tblGrid>
              <a:tr h="35692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Reference,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56839"/>
                  </a:ext>
                </a:extLst>
              </a:tr>
              <a:tr h="15021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Chen and Chang, 2021 [8]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Separable RDH, Block-level Encryption, Huffman Compression Coding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BPP=</a:t>
                      </a:r>
                      <a:r>
                        <a:rPr lang="en-US" dirty="0"/>
                        <a:t>2.378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BER=0  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NC=1.0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Strict block-size structural dependencies.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9317713"/>
                  </a:ext>
                </a:extLst>
              </a:tr>
              <a:tr h="1271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Gao et al., 2020 [9]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Pixel-Order Optimization (POB), Prediction Matrix, Image Encoding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BPP=1.5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BER=0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Highly reliant on spatial correlation of plaintext image.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1558331"/>
                  </a:ext>
                </a:extLst>
              </a:tr>
              <a:tr h="10714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Yang et al., 2025 [10]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Multi-level Pixel Shifting, Histogram Optimization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BPP=1.2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BER=0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Low Security,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Low embedding rate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1996529"/>
                  </a:ext>
                </a:extLst>
              </a:tr>
            </a:tbl>
          </a:graphicData>
        </a:graphic>
      </p:graphicFrame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ECA5FC6-7335-4A9B-B467-3BC98B816920}"/>
              </a:ext>
            </a:extLst>
          </p:cNvPr>
          <p:cNvSpPr txBox="1">
            <a:spLocks/>
          </p:cNvSpPr>
          <p:nvPr/>
        </p:nvSpPr>
        <p:spPr>
          <a:xfrm>
            <a:off x="318052" y="5738339"/>
            <a:ext cx="11607800" cy="617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1B089-5702-49AE-AE04-44B7686E2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9956" y="5304256"/>
            <a:ext cx="11555896" cy="1407134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H. Ren, G.-R. Bai, T.-T. Chen, Z. Yue, and R.-Y. Ren, "Reversible data hiding in encrypted images with multi-prediction and adaptive Huffman encoding," Scientific Reports, vol. 13, p. 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23104, 2023.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r>
              <a:rPr lang="en-US" sz="1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K.-M. Chen and C.-C. Chang, "High-capacity separable reversible data-hiding method in encrypted images based on block-level encryption and Huffman compression coding," Connection Science, vol. 33, no. 4, pp. 975–994, 2021.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[10]</a:t>
            </a:r>
            <a:r>
              <a:rPr lang="en-US" sz="1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H. Gao, T. Gao, Z. You, and R. Cheng, "High capacity reversible data hiding in encrypted image based on image encoding and POB," Journal of the Franklin Institute, vol. 357, no. 13, pp. 9107–9126, 2020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33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E1F9DA-C5C8-4332-9984-9ECC4FD2D709}"/>
              </a:ext>
            </a:extLst>
          </p:cNvPr>
          <p:cNvSpPr txBox="1"/>
          <p:nvPr/>
        </p:nvSpPr>
        <p:spPr>
          <a:xfrm>
            <a:off x="405516" y="315813"/>
            <a:ext cx="11179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Research Gaps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AF2BFA-9690-4583-AE73-DB73FEAEDD82}"/>
              </a:ext>
            </a:extLst>
          </p:cNvPr>
          <p:cNvSpPr txBox="1"/>
          <p:nvPr/>
        </p:nvSpPr>
        <p:spPr>
          <a:xfrm>
            <a:off x="511534" y="1486894"/>
            <a:ext cx="111689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embedding capacity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to gray scale images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complexity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adaptability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 to scale for big size images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formal security and robustness analysis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0FCD59-3159-4AE0-8878-85E534F21119}"/>
              </a:ext>
            </a:extLst>
          </p:cNvPr>
          <p:cNvSpPr txBox="1"/>
          <p:nvPr/>
        </p:nvSpPr>
        <p:spPr>
          <a:xfrm>
            <a:off x="405517" y="6186114"/>
            <a:ext cx="11274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10 </a:t>
            </a:r>
          </a:p>
        </p:txBody>
      </p:sp>
    </p:spTree>
    <p:extLst>
      <p:ext uri="{BB962C8B-B14F-4D97-AF65-F5344CB8AC3E}">
        <p14:creationId xmlns:p14="http://schemas.microsoft.com/office/powerpoint/2010/main" val="3016043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C718EA-3F9C-4B1D-8A1C-6E0C6877080A}"/>
              </a:ext>
            </a:extLst>
          </p:cNvPr>
          <p:cNvSpPr txBox="1"/>
          <p:nvPr/>
        </p:nvSpPr>
        <p:spPr>
          <a:xfrm>
            <a:off x="492981" y="323876"/>
            <a:ext cx="11200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Motivations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0CEB93-B835-4B9F-AF27-04CAA6714D1E}"/>
              </a:ext>
            </a:extLst>
          </p:cNvPr>
          <p:cNvSpPr txBox="1"/>
          <p:nvPr/>
        </p:nvSpPr>
        <p:spPr>
          <a:xfrm>
            <a:off x="492981" y="1447138"/>
            <a:ext cx="112007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Hide secret and sensitive image data without affecting image quality.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Achieve perfect extraction of the hidden secret data.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 lossless recovery of the original host image and secret image.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Maintain high image quality after data embedding.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 embedding capacity for larger secret payloads.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a secure, efficient, and reversible data hiding framework.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D72D7B-4BAD-4213-9934-1273157D9D43}"/>
              </a:ext>
            </a:extLst>
          </p:cNvPr>
          <p:cNvSpPr txBox="1"/>
          <p:nvPr/>
        </p:nvSpPr>
        <p:spPr>
          <a:xfrm>
            <a:off x="492982" y="6249725"/>
            <a:ext cx="11200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11</a:t>
            </a:r>
          </a:p>
        </p:txBody>
      </p:sp>
    </p:spTree>
    <p:extLst>
      <p:ext uri="{BB962C8B-B14F-4D97-AF65-F5344CB8AC3E}">
        <p14:creationId xmlns:p14="http://schemas.microsoft.com/office/powerpoint/2010/main" val="1055800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739527-B9CC-47E9-97CA-456A5B797C2C}"/>
              </a:ext>
            </a:extLst>
          </p:cNvPr>
          <p:cNvSpPr txBox="1"/>
          <p:nvPr/>
        </p:nvSpPr>
        <p:spPr>
          <a:xfrm>
            <a:off x="524786" y="302150"/>
            <a:ext cx="11044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3FBB2F-77E9-475C-95FE-3815C796A19E}"/>
              </a:ext>
            </a:extLst>
          </p:cNvPr>
          <p:cNvSpPr txBox="1"/>
          <p:nvPr/>
        </p:nvSpPr>
        <p:spPr>
          <a:xfrm>
            <a:off x="524786" y="1240403"/>
            <a:ext cx="11044362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proposed method, there are mainly  three  parts :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Preprocessing &amp; Key Generation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adaptive scaling of the secret image based on embedding capacity.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encryption keys using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Elliptic Curve Diffie-Hellman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(ECDH).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cryptographic keys and seeds using HMAC-based Extract-and-Expand Key Derivation Function (HKDF).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96F27-81E0-4D3D-BBED-3CBA2B561A02}"/>
              </a:ext>
            </a:extLst>
          </p:cNvPr>
          <p:cNvSpPr txBox="1"/>
          <p:nvPr/>
        </p:nvSpPr>
        <p:spPr>
          <a:xfrm>
            <a:off x="524786" y="6249725"/>
            <a:ext cx="11195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12</a:t>
            </a:r>
          </a:p>
        </p:txBody>
      </p:sp>
    </p:spTree>
    <p:extLst>
      <p:ext uri="{BB962C8B-B14F-4D97-AF65-F5344CB8AC3E}">
        <p14:creationId xmlns:p14="http://schemas.microsoft.com/office/powerpoint/2010/main" val="3169113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710434-88E3-4E6D-89A9-0EA5FFA23AC5}"/>
              </a:ext>
            </a:extLst>
          </p:cNvPr>
          <p:cNvSpPr txBox="1"/>
          <p:nvPr/>
        </p:nvSpPr>
        <p:spPr>
          <a:xfrm>
            <a:off x="413468" y="383927"/>
            <a:ext cx="11338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888648-C0A8-4200-A483-1070C14DE22F}"/>
              </a:ext>
            </a:extLst>
          </p:cNvPr>
          <p:cNvSpPr txBox="1"/>
          <p:nvPr/>
        </p:nvSpPr>
        <p:spPr>
          <a:xfrm>
            <a:off x="413468" y="1322401"/>
            <a:ext cx="1133856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Encryption &amp; Embedding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 the host image using block permutation and AES-128 CTR mode.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 the secret image using ChaCha20 encryption.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 the encrypted secret data using an adaptive multi-layer embedding method.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Extraction &amp; Decryption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the hidden secret data from the embedded image.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 the secret image using the correct keys.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 both host and secret images without any loss.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A46F7F-2FFA-4DAF-B4E2-022F86BE1160}"/>
              </a:ext>
            </a:extLst>
          </p:cNvPr>
          <p:cNvSpPr txBox="1"/>
          <p:nvPr/>
        </p:nvSpPr>
        <p:spPr>
          <a:xfrm>
            <a:off x="413468" y="6090699"/>
            <a:ext cx="11338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13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243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A4171B-7A42-4EC5-98C7-CEF1F935B72B}"/>
              </a:ext>
            </a:extLst>
          </p:cNvPr>
          <p:cNvSpPr txBox="1"/>
          <p:nvPr/>
        </p:nvSpPr>
        <p:spPr>
          <a:xfrm>
            <a:off x="397566" y="230588"/>
            <a:ext cx="11235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7EAD8-04FC-4D09-A5E6-80B273CC8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349" y="1261468"/>
            <a:ext cx="7681626" cy="41380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5C186C-E9AB-4EB7-B0DB-3750C90E1D15}"/>
              </a:ext>
            </a:extLst>
          </p:cNvPr>
          <p:cNvSpPr txBox="1"/>
          <p:nvPr/>
        </p:nvSpPr>
        <p:spPr>
          <a:xfrm>
            <a:off x="397566" y="5633830"/>
            <a:ext cx="1123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2. Overview of Proposed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423955-2EA0-4C97-A9C7-AFB0B000BDCA}"/>
              </a:ext>
            </a:extLst>
          </p:cNvPr>
          <p:cNvSpPr txBox="1"/>
          <p:nvPr/>
        </p:nvSpPr>
        <p:spPr>
          <a:xfrm>
            <a:off x="397567" y="6249725"/>
            <a:ext cx="11235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14</a:t>
            </a:r>
          </a:p>
        </p:txBody>
      </p:sp>
    </p:spTree>
    <p:extLst>
      <p:ext uri="{BB962C8B-B14F-4D97-AF65-F5344CB8AC3E}">
        <p14:creationId xmlns:p14="http://schemas.microsoft.com/office/powerpoint/2010/main" val="3274177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72CC06-4BC2-4C86-A292-90E91EA6C444}"/>
              </a:ext>
            </a:extLst>
          </p:cNvPr>
          <p:cNvSpPr txBox="1"/>
          <p:nvPr/>
        </p:nvSpPr>
        <p:spPr>
          <a:xfrm>
            <a:off x="373711" y="318053"/>
            <a:ext cx="11473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and Key Generation Process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9BC52-416C-4656-BAF9-EB81DD882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535" y="1215488"/>
            <a:ext cx="4746929" cy="43517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90FBC8-1FB2-4A64-8C16-C13D251A5A9D}"/>
              </a:ext>
            </a:extLst>
          </p:cNvPr>
          <p:cNvSpPr txBox="1"/>
          <p:nvPr/>
        </p:nvSpPr>
        <p:spPr>
          <a:xfrm>
            <a:off x="373711" y="5756744"/>
            <a:ext cx="1147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3. Preprocessing and Key Generation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B65B24-8921-4E67-BC75-85EE59AB024B}"/>
              </a:ext>
            </a:extLst>
          </p:cNvPr>
          <p:cNvSpPr txBox="1"/>
          <p:nvPr/>
        </p:nvSpPr>
        <p:spPr>
          <a:xfrm>
            <a:off x="373711" y="6249725"/>
            <a:ext cx="11473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15</a:t>
            </a:r>
          </a:p>
        </p:txBody>
      </p:sp>
    </p:spTree>
    <p:extLst>
      <p:ext uri="{BB962C8B-B14F-4D97-AF65-F5344CB8AC3E}">
        <p14:creationId xmlns:p14="http://schemas.microsoft.com/office/powerpoint/2010/main" val="749785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22AF73-32E9-43DF-BE16-E89AB83C716F}"/>
              </a:ext>
            </a:extLst>
          </p:cNvPr>
          <p:cNvSpPr txBox="1"/>
          <p:nvPr/>
        </p:nvSpPr>
        <p:spPr>
          <a:xfrm>
            <a:off x="365760" y="214685"/>
            <a:ext cx="114816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 and Embedding Process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5D3309-E65B-46A6-A219-E16EFABE3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965" y="1186246"/>
            <a:ext cx="5002070" cy="39331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6E6605-A47D-422A-8587-F2045B8D57CF}"/>
              </a:ext>
            </a:extLst>
          </p:cNvPr>
          <p:cNvSpPr txBox="1"/>
          <p:nvPr/>
        </p:nvSpPr>
        <p:spPr>
          <a:xfrm>
            <a:off x="365760" y="5487088"/>
            <a:ext cx="11481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4. Encryption and Embedding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99CBE1-686E-4BF4-ADCB-FBF47D7BB164}"/>
              </a:ext>
            </a:extLst>
          </p:cNvPr>
          <p:cNvSpPr txBox="1"/>
          <p:nvPr/>
        </p:nvSpPr>
        <p:spPr>
          <a:xfrm>
            <a:off x="365760" y="6249725"/>
            <a:ext cx="11481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16</a:t>
            </a:r>
          </a:p>
        </p:txBody>
      </p:sp>
    </p:spTree>
    <p:extLst>
      <p:ext uri="{BB962C8B-B14F-4D97-AF65-F5344CB8AC3E}">
        <p14:creationId xmlns:p14="http://schemas.microsoft.com/office/powerpoint/2010/main" val="2713043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B047C9-BD09-44F7-BFC9-EF008F53197C}"/>
              </a:ext>
            </a:extLst>
          </p:cNvPr>
          <p:cNvSpPr txBox="1"/>
          <p:nvPr/>
        </p:nvSpPr>
        <p:spPr>
          <a:xfrm>
            <a:off x="365759" y="206734"/>
            <a:ext cx="114896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Extraction and Decryption Process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923440-3EA5-4B78-A0E3-B4D140BA4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116" y="970675"/>
            <a:ext cx="5589767" cy="45110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888902-9C4E-43A2-A8B2-5E840D99D303}"/>
              </a:ext>
            </a:extLst>
          </p:cNvPr>
          <p:cNvSpPr txBox="1"/>
          <p:nvPr/>
        </p:nvSpPr>
        <p:spPr>
          <a:xfrm>
            <a:off x="429369" y="5772647"/>
            <a:ext cx="11489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5. Extraction and Decryption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FBC567-E551-4C0C-B427-FAAC3B3F593E}"/>
              </a:ext>
            </a:extLst>
          </p:cNvPr>
          <p:cNvSpPr txBox="1"/>
          <p:nvPr/>
        </p:nvSpPr>
        <p:spPr>
          <a:xfrm>
            <a:off x="365760" y="6249725"/>
            <a:ext cx="11489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17</a:t>
            </a:r>
          </a:p>
        </p:txBody>
      </p:sp>
    </p:spTree>
    <p:extLst>
      <p:ext uri="{BB962C8B-B14F-4D97-AF65-F5344CB8AC3E}">
        <p14:creationId xmlns:p14="http://schemas.microsoft.com/office/powerpoint/2010/main" val="745443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E2C4E2-6EB0-4CB5-8755-DDEAC0A8896A}"/>
              </a:ext>
            </a:extLst>
          </p:cNvPr>
          <p:cNvSpPr txBox="1"/>
          <p:nvPr/>
        </p:nvSpPr>
        <p:spPr>
          <a:xfrm>
            <a:off x="349857" y="182880"/>
            <a:ext cx="11489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Analysis: Sample Input Images (Host)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B60DC-6A31-4498-ABDA-FEBB31DE7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400" y="1236849"/>
            <a:ext cx="5462545" cy="33395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555896-4381-4E77-A0DD-A655D43D4E8A}"/>
              </a:ext>
            </a:extLst>
          </p:cNvPr>
          <p:cNvSpPr txBox="1"/>
          <p:nvPr/>
        </p:nvSpPr>
        <p:spPr>
          <a:xfrm>
            <a:off x="294198" y="4852704"/>
            <a:ext cx="11545293" cy="703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tabLst>
                <a:tab pos="792480" algn="l"/>
              </a:tabLst>
            </a:pPr>
            <a:r>
              <a:rPr lang="en-US" sz="18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6. Different Host Images: (a) Lena (b) Baboon (c) Boat (d) </a:t>
            </a:r>
            <a:r>
              <a:rPr lang="en-US" sz="1800" b="1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Girlface</a:t>
            </a:r>
            <a:r>
              <a:rPr lang="en-US" sz="18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(e) Barbara (f) Airplane (g) Couple (h) Zelda   (</a:t>
            </a:r>
            <a:r>
              <a:rPr lang="en-US" sz="1800" b="1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Bridge [12] [13]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DDB398-6194-421E-8EA8-E396E2105034}"/>
              </a:ext>
            </a:extLst>
          </p:cNvPr>
          <p:cNvSpPr txBox="1"/>
          <p:nvPr/>
        </p:nvSpPr>
        <p:spPr>
          <a:xfrm>
            <a:off x="349857" y="6249725"/>
            <a:ext cx="11489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18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2ED9BD-C92E-4C3B-8B20-350C0F142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4198" y="5697109"/>
            <a:ext cx="11545292" cy="64192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[12]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Hlevkin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Images Collection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Available: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https://www.hlevkin.com/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hlevkin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/06testimages.htm</a:t>
            </a:r>
            <a:r>
              <a:rPr lang="en-US" dirty="0">
                <a:solidFill>
                  <a:schemeClr val="tx1"/>
                </a:solidFill>
              </a:rPr>
              <a:t>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Accessed: June 15, 2026.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[13]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USC SIPI Image Database</a:t>
            </a:r>
            <a:r>
              <a:rPr lang="en-US" dirty="0"/>
              <a:t>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Available: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https://sipi.usc.edu/database/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Accessed: June 15, 2026. </a:t>
            </a:r>
          </a:p>
        </p:txBody>
      </p:sp>
    </p:spTree>
    <p:extLst>
      <p:ext uri="{BB962C8B-B14F-4D97-AF65-F5344CB8AC3E}">
        <p14:creationId xmlns:p14="http://schemas.microsoft.com/office/powerpoint/2010/main" val="4204864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33B3E5-5B74-4261-9AB7-8275541D4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389" y="1368603"/>
            <a:ext cx="5156467" cy="37112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3A232F-D6B3-4A74-884A-CB9D2EDF0DF3}"/>
              </a:ext>
            </a:extLst>
          </p:cNvPr>
          <p:cNvSpPr txBox="1"/>
          <p:nvPr/>
        </p:nvSpPr>
        <p:spPr>
          <a:xfrm>
            <a:off x="1599536" y="5166231"/>
            <a:ext cx="8992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7. Different Secret Images: (a) Breast Cancer (b) Chest X-ray (c) Kidney Cyst </a:t>
            </a:r>
          </a:p>
          <a:p>
            <a:pPr algn="ctr"/>
            <a:r>
              <a:rPr lang="en-US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(d) Bone Fracture (e) Brain Tumor (f) Brain CT_ Scan </a:t>
            </a:r>
            <a:endParaRPr lang="en-US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875CDF-7BF7-4FDE-BA24-5A20814E8593}"/>
              </a:ext>
            </a:extLst>
          </p:cNvPr>
          <p:cNvSpPr txBox="1"/>
          <p:nvPr/>
        </p:nvSpPr>
        <p:spPr>
          <a:xfrm>
            <a:off x="311426" y="383718"/>
            <a:ext cx="115691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Analysis(Cont.):Sample Input Images(Secret)</a:t>
            </a:r>
          </a:p>
          <a:p>
            <a:endParaRPr lang="en-US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3E9EF06-4A38-4BFD-839B-3CC2F50E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1" y="5898928"/>
            <a:ext cx="11545292" cy="473103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 dirty="0">
                <a:solidFill>
                  <a:schemeClr val="accent1"/>
                </a:solidFill>
              </a:rPr>
              <a:t>[11]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Prasun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Roy,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Images Dataset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Kaggle. Available: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https://www.kaggle.com/datasets/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prasunroy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/natural-images</a:t>
            </a:r>
            <a:r>
              <a:rPr lang="en-US" dirty="0">
                <a:solidFill>
                  <a:schemeClr val="tx1"/>
                </a:solidFill>
              </a:rPr>
              <a:t>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Accessed: June 15,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66D49A-BF33-4E9F-84EF-CE8AB1FEB4F0}"/>
              </a:ext>
            </a:extLst>
          </p:cNvPr>
          <p:cNvSpPr txBox="1"/>
          <p:nvPr/>
        </p:nvSpPr>
        <p:spPr>
          <a:xfrm>
            <a:off x="311426" y="6249725"/>
            <a:ext cx="11569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19</a:t>
            </a:r>
          </a:p>
        </p:txBody>
      </p:sp>
    </p:spTree>
    <p:extLst>
      <p:ext uri="{BB962C8B-B14F-4D97-AF65-F5344CB8AC3E}">
        <p14:creationId xmlns:p14="http://schemas.microsoft.com/office/powerpoint/2010/main" val="112390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02DD2-8C9B-44BF-8C0B-69A0C1203CC0}"/>
              </a:ext>
            </a:extLst>
          </p:cNvPr>
          <p:cNvSpPr txBox="1"/>
          <p:nvPr/>
        </p:nvSpPr>
        <p:spPr>
          <a:xfrm>
            <a:off x="63610" y="87464"/>
            <a:ext cx="12128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Analysis(Cont.):Visual Performance of Proposed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531D23-E9C1-4D86-A6AB-C5B005F66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240" y="1556304"/>
            <a:ext cx="5753599" cy="33530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238E0F-F039-4904-949B-0F4317186AD4}"/>
              </a:ext>
            </a:extLst>
          </p:cNvPr>
          <p:cNvSpPr txBox="1"/>
          <p:nvPr/>
        </p:nvSpPr>
        <p:spPr>
          <a:xfrm>
            <a:off x="373712" y="5064981"/>
            <a:ext cx="11465780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8. Visual quality of images:(a) Original host image(b) Secret image (c) Encrypted host image (d) Encrypted secret image (e) Embedded image (f) Recovered host image (</a:t>
            </a:r>
            <a:r>
              <a:rPr lang="en-US" sz="1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Recovered secret 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C3B059-CB01-458D-B729-460E0F95279A}"/>
              </a:ext>
            </a:extLst>
          </p:cNvPr>
          <p:cNvSpPr txBox="1"/>
          <p:nvPr/>
        </p:nvSpPr>
        <p:spPr>
          <a:xfrm>
            <a:off x="373712" y="6249725"/>
            <a:ext cx="11465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20</a:t>
            </a:r>
          </a:p>
        </p:txBody>
      </p:sp>
    </p:spTree>
    <p:extLst>
      <p:ext uri="{BB962C8B-B14F-4D97-AF65-F5344CB8AC3E}">
        <p14:creationId xmlns:p14="http://schemas.microsoft.com/office/powerpoint/2010/main" val="4010671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AD3D4-0E71-424E-8A4F-DFFC292BC5A8}"/>
              </a:ext>
            </a:extLst>
          </p:cNvPr>
          <p:cNvSpPr txBox="1"/>
          <p:nvPr/>
        </p:nvSpPr>
        <p:spPr>
          <a:xfrm>
            <a:off x="349857" y="357809"/>
            <a:ext cx="11513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Analysis(Cont.): Embedding Capacity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813CAB-DA88-4409-B7F5-DF984C61F91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94552" y="1232856"/>
            <a:ext cx="6602896" cy="38722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BE1DF2-C19F-4A75-B56A-0DA0868C29F5}"/>
              </a:ext>
            </a:extLst>
          </p:cNvPr>
          <p:cNvSpPr txBox="1"/>
          <p:nvPr/>
        </p:nvSpPr>
        <p:spPr>
          <a:xfrm>
            <a:off x="349857" y="5255812"/>
            <a:ext cx="1151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9. Embedding Capacity Analysis of Host Images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6661B-1BC7-4E95-9E67-5CB5A716117C}"/>
              </a:ext>
            </a:extLst>
          </p:cNvPr>
          <p:cNvSpPr txBox="1"/>
          <p:nvPr/>
        </p:nvSpPr>
        <p:spPr>
          <a:xfrm>
            <a:off x="349858" y="6249725"/>
            <a:ext cx="11513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21</a:t>
            </a:r>
          </a:p>
        </p:txBody>
      </p:sp>
    </p:spTree>
    <p:extLst>
      <p:ext uri="{BB962C8B-B14F-4D97-AF65-F5344CB8AC3E}">
        <p14:creationId xmlns:p14="http://schemas.microsoft.com/office/powerpoint/2010/main" val="635460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89D80F-2BE5-48CB-A44D-00EF9A5D89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73455" y="1477686"/>
            <a:ext cx="6258339" cy="3143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5F48C0-019E-42F1-A74E-7DD00F96F921}"/>
              </a:ext>
            </a:extLst>
          </p:cNvPr>
          <p:cNvSpPr txBox="1"/>
          <p:nvPr/>
        </p:nvSpPr>
        <p:spPr>
          <a:xfrm>
            <a:off x="310100" y="4953663"/>
            <a:ext cx="11521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10. Entropy Analysis of Cipher Images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5B980-753D-4395-910E-5A2D6D50244B}"/>
              </a:ext>
            </a:extLst>
          </p:cNvPr>
          <p:cNvSpPr txBox="1"/>
          <p:nvPr/>
        </p:nvSpPr>
        <p:spPr>
          <a:xfrm>
            <a:off x="373711" y="6249725"/>
            <a:ext cx="1145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C7349B-A0EB-45A2-99DB-B11FE0FD1640}"/>
              </a:ext>
            </a:extLst>
          </p:cNvPr>
          <p:cNvSpPr txBox="1"/>
          <p:nvPr/>
        </p:nvSpPr>
        <p:spPr>
          <a:xfrm>
            <a:off x="349857" y="510209"/>
            <a:ext cx="11521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Analysis(Cont.):Pixel Correlation of Host</a:t>
            </a:r>
          </a:p>
        </p:txBody>
      </p:sp>
    </p:spTree>
    <p:extLst>
      <p:ext uri="{BB962C8B-B14F-4D97-AF65-F5344CB8AC3E}">
        <p14:creationId xmlns:p14="http://schemas.microsoft.com/office/powerpoint/2010/main" val="2548829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BE4C2D-0826-440F-9874-7F2951CBD7B8}"/>
              </a:ext>
            </a:extLst>
          </p:cNvPr>
          <p:cNvSpPr txBox="1"/>
          <p:nvPr/>
        </p:nvSpPr>
        <p:spPr>
          <a:xfrm>
            <a:off x="275645" y="309122"/>
            <a:ext cx="116407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Analysis(Cont.): </a:t>
            </a:r>
            <a:r>
              <a:rPr lang="en-US" sz="3600" b="1" kern="1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Host Images</a:t>
            </a:r>
            <a:endParaRPr lang="en-US" sz="3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5AF7CD-1CC1-4BD4-9BE6-4A3C7CE0E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733841"/>
              </p:ext>
            </p:extLst>
          </p:nvPr>
        </p:nvGraphicFramePr>
        <p:xfrm>
          <a:off x="3239451" y="2207443"/>
          <a:ext cx="5713095" cy="27717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9110">
                  <a:extLst>
                    <a:ext uri="{9D8B030D-6E8A-4147-A177-3AD203B41FA5}">
                      <a16:colId xmlns:a16="http://schemas.microsoft.com/office/drawing/2014/main" val="1997936528"/>
                    </a:ext>
                  </a:extLst>
                </a:gridCol>
                <a:gridCol w="1141095">
                  <a:extLst>
                    <a:ext uri="{9D8B030D-6E8A-4147-A177-3AD203B41FA5}">
                      <a16:colId xmlns:a16="http://schemas.microsoft.com/office/drawing/2014/main" val="989276516"/>
                    </a:ext>
                  </a:extLst>
                </a:gridCol>
                <a:gridCol w="1045845">
                  <a:extLst>
                    <a:ext uri="{9D8B030D-6E8A-4147-A177-3AD203B41FA5}">
                      <a16:colId xmlns:a16="http://schemas.microsoft.com/office/drawing/2014/main" val="1098020376"/>
                    </a:ext>
                  </a:extLst>
                </a:gridCol>
                <a:gridCol w="1045845">
                  <a:extLst>
                    <a:ext uri="{9D8B030D-6E8A-4147-A177-3AD203B41FA5}">
                      <a16:colId xmlns:a16="http://schemas.microsoft.com/office/drawing/2014/main" val="1628458599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553532623"/>
                    </a:ext>
                  </a:extLst>
                </a:gridCol>
              </a:tblGrid>
              <a:tr h="2933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Images (512×512)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PSNR (dB)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MSE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SSIM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NC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701217476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Lena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∞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612806448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Baboon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∞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2432750372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Boat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∞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3938607312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Girlface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∞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86865344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Barbara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∞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1298900362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Airplane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∞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3129516076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Zelda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∞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3952342218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Bridge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∞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3767891338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Couple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∞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81814109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CBEE6B2-7C40-4DB6-9B58-F31DF995FB13}"/>
              </a:ext>
            </a:extLst>
          </p:cNvPr>
          <p:cNvSpPr txBox="1"/>
          <p:nvPr/>
        </p:nvSpPr>
        <p:spPr>
          <a:xfrm>
            <a:off x="331305" y="1396782"/>
            <a:ext cx="1164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Table 1: Lossless Host Recovery Metrics of the Proposed Method</a:t>
            </a:r>
            <a:endParaRPr lang="en-US" sz="1800" i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52DEF7-A4D3-4BED-8434-BC0AF26181C4}"/>
              </a:ext>
            </a:extLst>
          </p:cNvPr>
          <p:cNvSpPr txBox="1"/>
          <p:nvPr/>
        </p:nvSpPr>
        <p:spPr>
          <a:xfrm>
            <a:off x="275645" y="6249725"/>
            <a:ext cx="1164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23</a:t>
            </a:r>
          </a:p>
        </p:txBody>
      </p:sp>
    </p:spTree>
    <p:extLst>
      <p:ext uri="{BB962C8B-B14F-4D97-AF65-F5344CB8AC3E}">
        <p14:creationId xmlns:p14="http://schemas.microsoft.com/office/powerpoint/2010/main" val="1576157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DD7793-092B-4C1F-935F-DC6893F4C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631949"/>
              </p:ext>
            </p:extLst>
          </p:nvPr>
        </p:nvGraphicFramePr>
        <p:xfrm>
          <a:off x="2668989" y="2124196"/>
          <a:ext cx="6854022" cy="33058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8798">
                  <a:extLst>
                    <a:ext uri="{9D8B030D-6E8A-4147-A177-3AD203B41FA5}">
                      <a16:colId xmlns:a16="http://schemas.microsoft.com/office/drawing/2014/main" val="852731035"/>
                    </a:ext>
                  </a:extLst>
                </a:gridCol>
                <a:gridCol w="527609">
                  <a:extLst>
                    <a:ext uri="{9D8B030D-6E8A-4147-A177-3AD203B41FA5}">
                      <a16:colId xmlns:a16="http://schemas.microsoft.com/office/drawing/2014/main" val="1796829908"/>
                    </a:ext>
                  </a:extLst>
                </a:gridCol>
                <a:gridCol w="547901">
                  <a:extLst>
                    <a:ext uri="{9D8B030D-6E8A-4147-A177-3AD203B41FA5}">
                      <a16:colId xmlns:a16="http://schemas.microsoft.com/office/drawing/2014/main" val="1370026718"/>
                    </a:ext>
                  </a:extLst>
                </a:gridCol>
                <a:gridCol w="669656">
                  <a:extLst>
                    <a:ext uri="{9D8B030D-6E8A-4147-A177-3AD203B41FA5}">
                      <a16:colId xmlns:a16="http://schemas.microsoft.com/office/drawing/2014/main" val="3629519444"/>
                    </a:ext>
                  </a:extLst>
                </a:gridCol>
                <a:gridCol w="608779">
                  <a:extLst>
                    <a:ext uri="{9D8B030D-6E8A-4147-A177-3AD203B41FA5}">
                      <a16:colId xmlns:a16="http://schemas.microsoft.com/office/drawing/2014/main" val="3370023983"/>
                    </a:ext>
                  </a:extLst>
                </a:gridCol>
                <a:gridCol w="791412">
                  <a:extLst>
                    <a:ext uri="{9D8B030D-6E8A-4147-A177-3AD203B41FA5}">
                      <a16:colId xmlns:a16="http://schemas.microsoft.com/office/drawing/2014/main" val="375577468"/>
                    </a:ext>
                  </a:extLst>
                </a:gridCol>
                <a:gridCol w="852290">
                  <a:extLst>
                    <a:ext uri="{9D8B030D-6E8A-4147-A177-3AD203B41FA5}">
                      <a16:colId xmlns:a16="http://schemas.microsoft.com/office/drawing/2014/main" val="1765004008"/>
                    </a:ext>
                  </a:extLst>
                </a:gridCol>
                <a:gridCol w="669656">
                  <a:extLst>
                    <a:ext uri="{9D8B030D-6E8A-4147-A177-3AD203B41FA5}">
                      <a16:colId xmlns:a16="http://schemas.microsoft.com/office/drawing/2014/main" val="1898029773"/>
                    </a:ext>
                  </a:extLst>
                </a:gridCol>
                <a:gridCol w="1437921">
                  <a:extLst>
                    <a:ext uri="{9D8B030D-6E8A-4147-A177-3AD203B41FA5}">
                      <a16:colId xmlns:a16="http://schemas.microsoft.com/office/drawing/2014/main" val="1669704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Images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Gao et al.</a:t>
                      </a:r>
                      <a:br>
                        <a:rPr lang="en-US" sz="1200" kern="100">
                          <a:effectLst/>
                        </a:rPr>
                      </a:br>
                      <a:r>
                        <a:rPr lang="en-US" sz="1200" kern="100">
                          <a:effectLst/>
                        </a:rPr>
                        <a:t>2020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[9]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Li et al.</a:t>
                      </a:r>
                      <a:br>
                        <a:rPr lang="en-US" sz="1200" kern="100">
                          <a:effectLst/>
                        </a:rPr>
                      </a:br>
                      <a:r>
                        <a:rPr lang="en-US" sz="1200" kern="100">
                          <a:effectLst/>
                        </a:rPr>
                        <a:t>2021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[12]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Chen &amp;</a:t>
                      </a:r>
                      <a:br>
                        <a:rPr lang="en-US" sz="1200" kern="100">
                          <a:effectLst/>
                        </a:rPr>
                      </a:br>
                      <a:r>
                        <a:rPr lang="en-US" sz="1200" kern="100">
                          <a:effectLst/>
                        </a:rPr>
                        <a:t>Chang 2021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[10]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Ren et al.</a:t>
                      </a:r>
                      <a:br>
                        <a:rPr lang="en-US" sz="1200" kern="100">
                          <a:effectLst/>
                        </a:rPr>
                      </a:br>
                      <a:r>
                        <a:rPr lang="en-US" sz="1200" kern="100">
                          <a:effectLst/>
                        </a:rPr>
                        <a:t>2023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[2]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Ankur et al.</a:t>
                      </a:r>
                      <a:br>
                        <a:rPr lang="en-US" sz="1200" kern="100" dirty="0">
                          <a:effectLst/>
                        </a:rPr>
                      </a:br>
                      <a:r>
                        <a:rPr lang="en-US" sz="1200" kern="100" dirty="0">
                          <a:effectLst/>
                        </a:rPr>
                        <a:t>2025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[1]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Saeidi &amp;</a:t>
                      </a:r>
                      <a:br>
                        <a:rPr lang="en-US" sz="1200" kern="100">
                          <a:effectLst/>
                        </a:rPr>
                      </a:br>
                      <a:r>
                        <a:rPr lang="en-US" sz="1200" kern="100">
                          <a:effectLst/>
                        </a:rPr>
                        <a:t>Mirzakuchaki</a:t>
                      </a:r>
                      <a:br>
                        <a:rPr lang="en-US" sz="1200" kern="100">
                          <a:effectLst/>
                        </a:rPr>
                      </a:br>
                      <a:r>
                        <a:rPr lang="en-US" sz="1200" kern="100">
                          <a:effectLst/>
                        </a:rPr>
                        <a:t>2025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[13]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Anushiadevi</a:t>
                      </a:r>
                      <a:br>
                        <a:rPr lang="en-US" sz="1200" kern="100">
                          <a:effectLst/>
                        </a:rPr>
                      </a:br>
                      <a:r>
                        <a:rPr lang="en-US" sz="1200" kern="100">
                          <a:effectLst/>
                        </a:rPr>
                        <a:t>et al. 2026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[23]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Proposed</a:t>
                      </a:r>
                      <a:br>
                        <a:rPr lang="en-US" sz="1200" kern="100" dirty="0">
                          <a:effectLst/>
                        </a:rPr>
                      </a:br>
                      <a:r>
                        <a:rPr lang="en-US" sz="1200" kern="100" dirty="0">
                          <a:effectLst/>
                        </a:rPr>
                        <a:t>Method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239105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Baboon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1.93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2.538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0.4690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1.1562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1.5122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0.1293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0.42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7.9231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2821980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Lena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3.75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2.389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1.4005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3.1621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7.9504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2537409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Airplane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4.54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3.7245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4.0237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0.1741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7.7532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190914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Boat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3.21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0.0430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1.00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7.9005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3104413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Barbara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3.13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0.9526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0.1369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7.8762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3433574145"/>
                  </a:ext>
                </a:extLst>
              </a:tr>
              <a:tr h="88868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Zelda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2.475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1.5679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—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7.7532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/>
                </a:tc>
                <a:extLst>
                  <a:ext uri="{0D108BD9-81ED-4DB2-BD59-A6C34878D82A}">
                    <a16:rowId xmlns:a16="http://schemas.microsoft.com/office/drawing/2014/main" val="95855602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C3E22FA-02E2-4AC6-8069-83271A5A8337}"/>
              </a:ext>
            </a:extLst>
          </p:cNvPr>
          <p:cNvSpPr txBox="1"/>
          <p:nvPr/>
        </p:nvSpPr>
        <p:spPr>
          <a:xfrm>
            <a:off x="275646" y="376053"/>
            <a:ext cx="116407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Analysis(Cont.): </a:t>
            </a:r>
            <a:r>
              <a:rPr lang="en-US" sz="3600" b="1" kern="1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Host Images</a:t>
            </a:r>
            <a:endParaRPr 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135A6D-6934-45D8-9C3A-C1236C8DE8C4}"/>
              </a:ext>
            </a:extLst>
          </p:cNvPr>
          <p:cNvSpPr txBox="1"/>
          <p:nvPr/>
        </p:nvSpPr>
        <p:spPr>
          <a:xfrm>
            <a:off x="275646" y="1427922"/>
            <a:ext cx="1164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Table 2: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Rate Comparison with Existing 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3653E8-61AF-47B4-9958-A080A9334F66}"/>
              </a:ext>
            </a:extLst>
          </p:cNvPr>
          <p:cNvSpPr txBox="1"/>
          <p:nvPr/>
        </p:nvSpPr>
        <p:spPr>
          <a:xfrm>
            <a:off x="275646" y="6249725"/>
            <a:ext cx="11640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24</a:t>
            </a:r>
          </a:p>
        </p:txBody>
      </p:sp>
    </p:spTree>
    <p:extLst>
      <p:ext uri="{BB962C8B-B14F-4D97-AF65-F5344CB8AC3E}">
        <p14:creationId xmlns:p14="http://schemas.microsoft.com/office/powerpoint/2010/main" val="3113263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B8BDD5-DC44-4B1E-AE0E-AAF9F43AB829}"/>
              </a:ext>
            </a:extLst>
          </p:cNvPr>
          <p:cNvSpPr txBox="1"/>
          <p:nvPr/>
        </p:nvSpPr>
        <p:spPr>
          <a:xfrm>
            <a:off x="159026" y="381663"/>
            <a:ext cx="11911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Analysis(Cont.): </a:t>
            </a:r>
            <a:r>
              <a:rPr lang="en-US" sz="3600" b="1" kern="1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Secret Images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66B899-765F-456E-B5CB-5ACF75EDC850}"/>
              </a:ext>
            </a:extLst>
          </p:cNvPr>
          <p:cNvSpPr txBox="1"/>
          <p:nvPr/>
        </p:nvSpPr>
        <p:spPr>
          <a:xfrm>
            <a:off x="55659" y="1389092"/>
            <a:ext cx="11855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Table 3: Performance Analysis of Secret Images Recovery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7C2A65-DCC6-4DBD-A576-A10B91CA9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400868"/>
              </p:ext>
            </p:extLst>
          </p:nvPr>
        </p:nvGraphicFramePr>
        <p:xfrm>
          <a:off x="3155341" y="2299858"/>
          <a:ext cx="5918424" cy="30752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9606">
                  <a:extLst>
                    <a:ext uri="{9D8B030D-6E8A-4147-A177-3AD203B41FA5}">
                      <a16:colId xmlns:a16="http://schemas.microsoft.com/office/drawing/2014/main" val="1001648849"/>
                    </a:ext>
                  </a:extLst>
                </a:gridCol>
                <a:gridCol w="1479606">
                  <a:extLst>
                    <a:ext uri="{9D8B030D-6E8A-4147-A177-3AD203B41FA5}">
                      <a16:colId xmlns:a16="http://schemas.microsoft.com/office/drawing/2014/main" val="303589833"/>
                    </a:ext>
                  </a:extLst>
                </a:gridCol>
                <a:gridCol w="1479606">
                  <a:extLst>
                    <a:ext uri="{9D8B030D-6E8A-4147-A177-3AD203B41FA5}">
                      <a16:colId xmlns:a16="http://schemas.microsoft.com/office/drawing/2014/main" val="1019644890"/>
                    </a:ext>
                  </a:extLst>
                </a:gridCol>
                <a:gridCol w="1479606">
                  <a:extLst>
                    <a:ext uri="{9D8B030D-6E8A-4147-A177-3AD203B41FA5}">
                      <a16:colId xmlns:a16="http://schemas.microsoft.com/office/drawing/2014/main" val="2570139858"/>
                    </a:ext>
                  </a:extLst>
                </a:gridCol>
              </a:tblGrid>
              <a:tr h="2778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Secret Images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Image Size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PSNR (dB)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BER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5151037"/>
                  </a:ext>
                </a:extLst>
              </a:tr>
              <a:tr h="2778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Breast Cancer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777 × 578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∞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063094"/>
                  </a:ext>
                </a:extLst>
              </a:tr>
              <a:tr h="2778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Chest X-ray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1024 × 680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∞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5729699"/>
                  </a:ext>
                </a:extLst>
              </a:tr>
              <a:tr h="2778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Kidney Cyst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865 × 700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∞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5539736"/>
                  </a:ext>
                </a:extLst>
              </a:tr>
              <a:tr h="5745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Ultrasonogram of Fetus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800 × 540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∞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8064089"/>
                  </a:ext>
                </a:extLst>
              </a:tr>
              <a:tr h="2778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Thyroid Cancer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982 × 762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∞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4242591"/>
                  </a:ext>
                </a:extLst>
              </a:tr>
              <a:tr h="2778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Bone Fracture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640 × 640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∞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730825"/>
                  </a:ext>
                </a:extLst>
              </a:tr>
              <a:tr h="2778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Brain CT Scan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650 × 650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∞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9022827"/>
                  </a:ext>
                </a:extLst>
              </a:tr>
              <a:tr h="2778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Brain Tumor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512 × 512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∞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5578897"/>
                  </a:ext>
                </a:extLst>
              </a:tr>
              <a:tr h="2778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Kidney Stone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512 × 512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∞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536279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43EFD7-2B4B-4D73-819E-272656EBFA8D}"/>
              </a:ext>
            </a:extLst>
          </p:cNvPr>
          <p:cNvSpPr txBox="1"/>
          <p:nvPr/>
        </p:nvSpPr>
        <p:spPr>
          <a:xfrm>
            <a:off x="159026" y="6245504"/>
            <a:ext cx="11752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25</a:t>
            </a:r>
          </a:p>
        </p:txBody>
      </p:sp>
    </p:spTree>
    <p:extLst>
      <p:ext uri="{BB962C8B-B14F-4D97-AF65-F5344CB8AC3E}">
        <p14:creationId xmlns:p14="http://schemas.microsoft.com/office/powerpoint/2010/main" val="726859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2433C1-94B1-4FDD-8B02-60B90FDBF566}"/>
              </a:ext>
            </a:extLst>
          </p:cNvPr>
          <p:cNvSpPr txBox="1"/>
          <p:nvPr/>
        </p:nvSpPr>
        <p:spPr>
          <a:xfrm>
            <a:off x="318052" y="293228"/>
            <a:ext cx="11577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Analysis(Cont.): Host Images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050CF6-9F98-414B-85DA-F24F90AA099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30664" y="1288515"/>
            <a:ext cx="6237136" cy="36890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A4C99C-2D2E-4F24-BECF-BBACCAD7B7B2}"/>
              </a:ext>
            </a:extLst>
          </p:cNvPr>
          <p:cNvSpPr txBox="1"/>
          <p:nvPr/>
        </p:nvSpPr>
        <p:spPr>
          <a:xfrm>
            <a:off x="318052" y="5326473"/>
            <a:ext cx="11577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11: Recovery result of host images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C4CA99-1421-4EF7-AFFD-5C752E93839E}"/>
              </a:ext>
            </a:extLst>
          </p:cNvPr>
          <p:cNvSpPr txBox="1"/>
          <p:nvPr/>
        </p:nvSpPr>
        <p:spPr>
          <a:xfrm>
            <a:off x="318052" y="6249725"/>
            <a:ext cx="11577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26</a:t>
            </a:r>
          </a:p>
        </p:txBody>
      </p:sp>
    </p:spTree>
    <p:extLst>
      <p:ext uri="{BB962C8B-B14F-4D97-AF65-F5344CB8AC3E}">
        <p14:creationId xmlns:p14="http://schemas.microsoft.com/office/powerpoint/2010/main" val="3379476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D2CC82-9273-400E-B8F0-2BCA7F9DD40F}"/>
              </a:ext>
            </a:extLst>
          </p:cNvPr>
          <p:cNvSpPr txBox="1"/>
          <p:nvPr/>
        </p:nvSpPr>
        <p:spPr>
          <a:xfrm>
            <a:off x="318053" y="146610"/>
            <a:ext cx="11569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9BF541-B7F3-4363-AE76-8207500C55CA}"/>
              </a:ext>
            </a:extLst>
          </p:cNvPr>
          <p:cNvSpPr txBox="1"/>
          <p:nvPr/>
        </p:nvSpPr>
        <p:spPr>
          <a:xfrm>
            <a:off x="318053" y="6249725"/>
            <a:ext cx="11569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27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EB3EE-4BEA-4D5D-8E5B-E98C19654769}"/>
              </a:ext>
            </a:extLst>
          </p:cNvPr>
          <p:cNvSpPr txBox="1"/>
          <p:nvPr/>
        </p:nvSpPr>
        <p:spPr>
          <a:xfrm>
            <a:off x="318052" y="1335819"/>
            <a:ext cx="115691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Safely hides secret data in encrypted images.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high-capacity data embedding of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7.9504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bpp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perfect recovery with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PSNR = ∞, MSE = 0, SSIM = 1.0, NC = 1.0.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lossless transmission with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 = 0.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Preserves high image quality.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strong security through encryption.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493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4D922C-614D-40FD-9F8B-6653D5DF3375}"/>
              </a:ext>
            </a:extLst>
          </p:cNvPr>
          <p:cNvSpPr txBox="1"/>
          <p:nvPr/>
        </p:nvSpPr>
        <p:spPr>
          <a:xfrm>
            <a:off x="262392" y="103367"/>
            <a:ext cx="11656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008F70-4104-4D57-B382-238A7DF19299}"/>
              </a:ext>
            </a:extLst>
          </p:cNvPr>
          <p:cNvSpPr txBox="1"/>
          <p:nvPr/>
        </p:nvSpPr>
        <p:spPr>
          <a:xfrm>
            <a:off x="262393" y="6249725"/>
            <a:ext cx="11656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28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34DD38-5BD4-4FD7-81E7-C134C57A1DC2}"/>
              </a:ext>
            </a:extLst>
          </p:cNvPr>
          <p:cNvSpPr txBox="1"/>
          <p:nvPr/>
        </p:nvSpPr>
        <p:spPr>
          <a:xfrm>
            <a:off x="413469" y="1232452"/>
            <a:ext cx="115055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the method for color images.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computational complexity and processing time.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high image quality without using backup pixels.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the data hiding capacity.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the security of the system.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the method to real-world image sharing and storage applications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383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CC5490-2DAD-4212-8B33-B2281E0D55BD}"/>
              </a:ext>
            </a:extLst>
          </p:cNvPr>
          <p:cNvSpPr txBox="1"/>
          <p:nvPr/>
        </p:nvSpPr>
        <p:spPr>
          <a:xfrm>
            <a:off x="365759" y="206161"/>
            <a:ext cx="11449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20D0F2-B8C9-46AA-AB31-A57F7DC476FE}"/>
              </a:ext>
            </a:extLst>
          </p:cNvPr>
          <p:cNvSpPr txBox="1"/>
          <p:nvPr/>
        </p:nvSpPr>
        <p:spPr>
          <a:xfrm>
            <a:off x="365759" y="1065694"/>
            <a:ext cx="11449877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[1]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Malik, P. He, H. Wang, A. N. Khan, S.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Pirasteh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S. M. Abdullahi, "High-capacity reversible data hiding in encrypted images using multi-layer embedding," IEEE Access, vol. 8, pp. 148998–149010, 2020.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https://doi.org/10.1109/ACCESS.2020.3016539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[2]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 Li, C.-C. Chang, and C.-C. Lin, “Reversible data hiding in encrypted image based on (7,4) Hamming code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UnitSmooth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detection," Entropy, vol. 23, no. 6, p. 790, 2021.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[3]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Jose and K. Subramaniam, "Comparative analysis of reversible data hiding schemes," IET Image Processing, vol. 14, no. 10, pp. 2011–2023, 2020.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[4]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Kumar, A. Gupta, and G. S. Walia, "Reversible data hiding: A contemporary survey of state-of-the-art, opportunities and challenges," Applied Intelligence, vol. 52, no. 7,7406, 2022. DOI: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https://doi.org/10.1007/s10489-021-02840-7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[5]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Rehman, N. T.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Bajwa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A. Shah, A. O.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Aseeri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Anjum, "Hybrid AES-ECC model for the security of data over cloud storage," Electronics, vol. 10, no. 21, p. 2673, 2021. DOI: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https://doi.org/10.3390/electronics10212673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75A22-8FFC-4EC2-AC76-74789007E827}"/>
              </a:ext>
            </a:extLst>
          </p:cNvPr>
          <p:cNvSpPr txBox="1"/>
          <p:nvPr/>
        </p:nvSpPr>
        <p:spPr>
          <a:xfrm>
            <a:off x="365760" y="6249725"/>
            <a:ext cx="11449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29</a:t>
            </a:r>
          </a:p>
        </p:txBody>
      </p:sp>
    </p:spTree>
    <p:extLst>
      <p:ext uri="{BB962C8B-B14F-4D97-AF65-F5344CB8AC3E}">
        <p14:creationId xmlns:p14="http://schemas.microsoft.com/office/powerpoint/2010/main" val="12269188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B4DD6E-B956-4C57-AC0B-65C48275BA04}"/>
              </a:ext>
            </a:extLst>
          </p:cNvPr>
          <p:cNvSpPr txBox="1"/>
          <p:nvPr/>
        </p:nvSpPr>
        <p:spPr>
          <a:xfrm>
            <a:off x="278297" y="111318"/>
            <a:ext cx="116327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657BC6-A18F-4EB5-847F-E1F83A689079}"/>
              </a:ext>
            </a:extLst>
          </p:cNvPr>
          <p:cNvSpPr txBox="1"/>
          <p:nvPr/>
        </p:nvSpPr>
        <p:spPr>
          <a:xfrm>
            <a:off x="278297" y="914722"/>
            <a:ext cx="11632758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[6]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V. Venkatesh, R.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Anushiadevi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V.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Meikandan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Mahalingam, and R.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Amirtharajan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"Separable reversible data hiding by vacating room after encryption using encrypted pixel difference," Scientific Reports, vol. 15, p. 11916, 2025. DOI: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https://doi.org/10.1038/s41598-025-11916-6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[7]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 Ren, G.-R. Bai, T.-T. Chen, Z. Yue, and R.-Y. Ren, "Reversible data hiding in encrypted images with multi-prediction and adaptive Huffman encoding," Scientific Reports, vol. 13, p. 23104, 2023. DOI: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https://doi.org/10.1038/s41598-023-50364-7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[8]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K.-M. Chen and C.-C. Chang, "High-capacity separable reversible data-hiding method in encrypted images based on block-level encryption and Huffman compression coding," Connection Science, vol. 33, no. 4, pp. 975–994, 2021. DOI: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https://doi.org/10.1080/09540091.2021.1892630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[9]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 Gao, T. Gao, Z. You, and R. Cheng, "High capacity reversible data hiding in encrypted image based on image encoding and POB," Journal of the Franklin Institute, vol. 357, no. 13, pp. 9107–9126, 2020. DOI: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https://doi.org/10.1016/j.jfranklin.2020.06.019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FF9C5F-BBEC-41FC-AB7C-B4436E1F0442}"/>
              </a:ext>
            </a:extLst>
          </p:cNvPr>
          <p:cNvSpPr txBox="1"/>
          <p:nvPr/>
        </p:nvSpPr>
        <p:spPr>
          <a:xfrm>
            <a:off x="318053" y="6249725"/>
            <a:ext cx="11569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30</a:t>
            </a:r>
          </a:p>
        </p:txBody>
      </p:sp>
    </p:spTree>
    <p:extLst>
      <p:ext uri="{BB962C8B-B14F-4D97-AF65-F5344CB8AC3E}">
        <p14:creationId xmlns:p14="http://schemas.microsoft.com/office/powerpoint/2010/main" val="674454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46A41E-82EA-4B51-A7AB-556C97A92686}"/>
              </a:ext>
            </a:extLst>
          </p:cNvPr>
          <p:cNvSpPr txBox="1"/>
          <p:nvPr/>
        </p:nvSpPr>
        <p:spPr>
          <a:xfrm>
            <a:off x="318052" y="146610"/>
            <a:ext cx="11569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9FB982-922A-4688-A3D5-6211EDDE266A}"/>
              </a:ext>
            </a:extLst>
          </p:cNvPr>
          <p:cNvSpPr txBox="1"/>
          <p:nvPr/>
        </p:nvSpPr>
        <p:spPr>
          <a:xfrm>
            <a:off x="954157" y="1192696"/>
            <a:ext cx="9382539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[10]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C.-N. Yang, Y.-Q. Lu, S.-Y. Liu, and L.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"Enhanced reversible data hiding in encrypted images by pixel shifting," Journal of Visual Communication and Image Representation, vol. 99, 2025. DOI: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https://doi.org/10.1016/j.jvcir.2024.104156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[11]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Prasun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Roy,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Images Dataset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Kaggle. Available: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https://www.kaggle.com/datasets/prasunroy/natural-images</a:t>
            </a:r>
            <a:r>
              <a:rPr lang="en-US" dirty="0">
                <a:solidFill>
                  <a:schemeClr val="tx1"/>
                </a:solidFill>
              </a:rPr>
              <a:t> ↗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Accessed: June 15, 2026.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[12]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Hlevkin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Images Collection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Available: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https://www.hlevkin.com/hlevkin/06testimages.htm</a:t>
            </a:r>
            <a:r>
              <a:rPr lang="en-US" dirty="0">
                <a:solidFill>
                  <a:schemeClr val="tx1"/>
                </a:solidFill>
              </a:rPr>
              <a:t> ↗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Accessed: June 15, 2026.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[13]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USC SIPI Image Database</a:t>
            </a:r>
            <a:r>
              <a:rPr lang="en-US" dirty="0">
                <a:solidFill>
                  <a:schemeClr val="tx1"/>
                </a:solidFill>
              </a:rPr>
              <a:t> ↗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Available: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https://sipi.usc.edu/database/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. Accessed: June 15, 2026. 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C2611-622C-41E0-B981-D921EEE25D1E}"/>
              </a:ext>
            </a:extLst>
          </p:cNvPr>
          <p:cNvSpPr txBox="1"/>
          <p:nvPr/>
        </p:nvSpPr>
        <p:spPr>
          <a:xfrm>
            <a:off x="318053" y="6249725"/>
            <a:ext cx="11569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31</a:t>
            </a:r>
          </a:p>
        </p:txBody>
      </p:sp>
    </p:spTree>
    <p:extLst>
      <p:ext uri="{BB962C8B-B14F-4D97-AF65-F5344CB8AC3E}">
        <p14:creationId xmlns:p14="http://schemas.microsoft.com/office/powerpoint/2010/main" val="3201459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647B6FC4-9BE9-402C-9820-4897BF9BDE19}"/>
              </a:ext>
            </a:extLst>
          </p:cNvPr>
          <p:cNvSpPr txBox="1">
            <a:spLocks/>
          </p:cNvSpPr>
          <p:nvPr/>
        </p:nvSpPr>
        <p:spPr>
          <a:xfrm>
            <a:off x="1816608" y="2551176"/>
            <a:ext cx="8558784" cy="175564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AC332-CAFB-403D-B3D4-682BDE9225EA}"/>
              </a:ext>
            </a:extLst>
          </p:cNvPr>
          <p:cNvSpPr txBox="1"/>
          <p:nvPr/>
        </p:nvSpPr>
        <p:spPr>
          <a:xfrm>
            <a:off x="318053" y="6249725"/>
            <a:ext cx="11569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32</a:t>
            </a:r>
          </a:p>
        </p:txBody>
      </p:sp>
    </p:spTree>
    <p:extLst>
      <p:ext uri="{BB962C8B-B14F-4D97-AF65-F5344CB8AC3E}">
        <p14:creationId xmlns:p14="http://schemas.microsoft.com/office/powerpoint/2010/main" val="557231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3023</Words>
  <Application>Microsoft Office PowerPoint</Application>
  <PresentationFormat>Widescreen</PresentationFormat>
  <Paragraphs>401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Google Sans Text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Dilruba Yeasmin</dc:creator>
  <cp:lastModifiedBy>Dilruba Yeasmin</cp:lastModifiedBy>
  <cp:revision>8</cp:revision>
  <dcterms:created xsi:type="dcterms:W3CDTF">2026-06-14T11:09:14Z</dcterms:created>
  <dcterms:modified xsi:type="dcterms:W3CDTF">2026-06-15T17:29:43Z</dcterms:modified>
</cp:coreProperties>
</file>